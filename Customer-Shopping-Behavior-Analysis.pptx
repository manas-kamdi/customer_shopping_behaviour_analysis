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Algerian" panose="04020705040A02060702" pitchFamily="82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Lora" pitchFamily="2" charset="0"/>
      <p:regular r:id="rId19"/>
    </p:embeddedFont>
    <p:embeddedFont>
      <p:font typeface="Source Sans 3" panose="020B0604020202020204" charset="0"/>
      <p:regular r:id="rId20"/>
    </p:embeddedFont>
    <p:embeddedFont>
      <p:font typeface="Source Sans 3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DDA"/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461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Insights from </a:t>
            </a: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3,900 transactions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demographics, spending patterns, and product preferences to guide strategic decisions.</a:t>
            </a:r>
            <a:endParaRPr lang="en-US" sz="11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876692-1D6B-C003-E504-F802C0AB24FD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5007"/>
            <a:ext cx="466784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52577" y="1023045"/>
            <a:ext cx="2264866" cy="42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952577" y="1594396"/>
            <a:ext cx="226486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55556" y="1023045"/>
            <a:ext cx="2264866" cy="42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355556" y="1594396"/>
            <a:ext cx="226486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Columns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154067" y="2068637"/>
            <a:ext cx="2264866" cy="42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37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5154067" y="2639988"/>
            <a:ext cx="226486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154067" y="2895302"/>
            <a:ext cx="226486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Rating only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52577" y="3210818"/>
            <a:ext cx="2278707" cy="703585"/>
          </a:xfrm>
          <a:prstGeom prst="roundRect">
            <a:avLst>
              <a:gd name="adj" fmla="val 2741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4081090" y="3339331"/>
            <a:ext cx="2021681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Demographics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81090" y="3594646"/>
            <a:ext cx="202168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Age, Gender, Location, Subscription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41715" y="3210818"/>
            <a:ext cx="2278707" cy="703585"/>
          </a:xfrm>
          <a:prstGeom prst="roundRect">
            <a:avLst>
              <a:gd name="adj" fmla="val 2741"/>
            </a:avLst>
          </a:prstGeom>
          <a:solidFill>
            <a:srgbClr val="F3E7D4"/>
          </a:solidFill>
          <a:ln/>
        </p:spPr>
      </p:sp>
      <p:sp>
        <p:nvSpPr>
          <p:cNvPr id="15" name="Text 12"/>
          <p:cNvSpPr/>
          <p:nvPr/>
        </p:nvSpPr>
        <p:spPr>
          <a:xfrm>
            <a:off x="6470228" y="3339331"/>
            <a:ext cx="2021681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 Details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70228" y="3594646"/>
            <a:ext cx="202168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Item, Category, Amount, Season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52577" y="4024833"/>
            <a:ext cx="4667845" cy="703585"/>
          </a:xfrm>
          <a:prstGeom prst="roundRect">
            <a:avLst>
              <a:gd name="adj" fmla="val 2741"/>
            </a:avLst>
          </a:prstGeom>
          <a:solidFill>
            <a:srgbClr val="F3E7D4"/>
          </a:solidFill>
          <a:ln/>
        </p:spPr>
      </p:sp>
      <p:sp>
        <p:nvSpPr>
          <p:cNvPr id="18" name="Text 15"/>
          <p:cNvSpPr/>
          <p:nvPr/>
        </p:nvSpPr>
        <p:spPr>
          <a:xfrm>
            <a:off x="4081090" y="4153346"/>
            <a:ext cx="4410819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Behavior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081090" y="4408661"/>
            <a:ext cx="4410819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Discount, Promo, Frequency, Rating</a:t>
            </a:r>
            <a:endParaRPr lang="en-US" sz="10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3D8283-0D2B-080E-DFD9-300C56C56A8E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1098"/>
            <a:ext cx="809684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Exploratory Data Analysis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415579"/>
            <a:ext cx="5147146" cy="2895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182" y="1156915"/>
            <a:ext cx="2618929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 Prep Steps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7007" y="1501192"/>
            <a:ext cx="203374" cy="20337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46788" y="1494532"/>
            <a:ext cx="2178323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dataset with </a:t>
            </a: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pandas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ran </a:t>
            </a:r>
            <a:r>
              <a:rPr lang="en-US" sz="10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&amp; </a:t>
            </a:r>
            <a:r>
              <a:rPr lang="en-US" sz="10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7007" y="2169877"/>
            <a:ext cx="203374" cy="2033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46788" y="2163217"/>
            <a:ext cx="217832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Imputed missing Review Ratings using </a:t>
            </a: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category median</a:t>
            </a:r>
            <a:endParaRPr lang="en-US" sz="10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7007" y="2829037"/>
            <a:ext cx="203374" cy="20337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46788" y="2822377"/>
            <a:ext cx="217832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Engineered </a:t>
            </a: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age_group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&amp; </a:t>
            </a: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purchase_frequency_days</a:t>
            </a:r>
            <a:endParaRPr lang="en-US" sz="10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7007" y="3488196"/>
            <a:ext cx="203374" cy="20337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46788" y="3481536"/>
            <a:ext cx="2178323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Dropped redundant </a:t>
            </a: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promo_code_used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</a:t>
            </a:r>
            <a:endParaRPr lang="en-US" sz="10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7007" y="4147356"/>
            <a:ext cx="203374" cy="20337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446788" y="4140696"/>
            <a:ext cx="217832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cleaned data into </a:t>
            </a: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06E762-F9D6-59CF-5C28-87D6C4BA7D0A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 </a:t>
            </a: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2.1× more revenue</a:t>
            </a: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than female customers.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510433"/>
            <a:ext cx="1858194" cy="946175"/>
          </a:xfrm>
          <a:prstGeom prst="roundRect">
            <a:avLst>
              <a:gd name="adj" fmla="val 2372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27848" y="2679055"/>
            <a:ext cx="15209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Male Revenue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27848" y="3048595"/>
            <a:ext cx="15209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$157,890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992" y="2510433"/>
            <a:ext cx="1858194" cy="946175"/>
          </a:xfrm>
          <a:prstGeom prst="roundRect">
            <a:avLst>
              <a:gd name="adj" fmla="val 2372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5614" y="2679055"/>
            <a:ext cx="15209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Female Revenue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35614" y="3048595"/>
            <a:ext cx="15209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$75,191</a:t>
            </a:r>
            <a:endParaRPr lang="en-US" sz="11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B63A5A-D17C-CD0A-C32F-9376348E985A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515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Products &amp; Discount Patterns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909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97310"/>
            <a:ext cx="3865959" cy="2782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130909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Most Discounted Products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226" y="1697310"/>
            <a:ext cx="3865959" cy="27827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373F30-7664-0075-D16E-3A3559147F13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515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 &amp; Shipping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909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vs Non-Subscribers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97310"/>
            <a:ext cx="3865959" cy="2782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130909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Shipping Type Comparison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759226" y="1697310"/>
            <a:ext cx="1858194" cy="908075"/>
          </a:xfrm>
          <a:prstGeom prst="roundRect">
            <a:avLst>
              <a:gd name="adj" fmla="val 2471"/>
            </a:avLst>
          </a:prstGeom>
          <a:solidFill>
            <a:srgbClr val="F3E7D4"/>
          </a:solidFill>
          <a:ln/>
        </p:spPr>
      </p:sp>
      <p:sp>
        <p:nvSpPr>
          <p:cNvPr id="7" name="Text 4"/>
          <p:cNvSpPr/>
          <p:nvPr/>
        </p:nvSpPr>
        <p:spPr>
          <a:xfrm>
            <a:off x="4908798" y="1846883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08798" y="2216423"/>
            <a:ext cx="15590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$58.46 avg purchase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766992" y="1697310"/>
            <a:ext cx="1858194" cy="908075"/>
          </a:xfrm>
          <a:prstGeom prst="roundRect">
            <a:avLst>
              <a:gd name="adj" fmla="val 2471"/>
            </a:avLst>
          </a:prstGeom>
          <a:solidFill>
            <a:srgbClr val="F3E7D4"/>
          </a:solidFill>
          <a:ln/>
        </p:spPr>
      </p:sp>
      <p:sp>
        <p:nvSpPr>
          <p:cNvPr id="10" name="Text 7"/>
          <p:cNvSpPr/>
          <p:nvPr/>
        </p:nvSpPr>
        <p:spPr>
          <a:xfrm>
            <a:off x="6916564" y="1846883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Express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16564" y="2216423"/>
            <a:ext cx="155904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$60.48 avg purchase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59226" y="2773635"/>
            <a:ext cx="43231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buyers spend slightly more — opportunity for upsell.</a:t>
            </a:r>
            <a:endParaRPr lang="en-US" sz="115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355279-0488-FAC1-7AD4-B87AD5AFC9D6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31527"/>
            <a:ext cx="46678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23577" y="1126034"/>
            <a:ext cx="2248942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3,116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577" y="1769790"/>
            <a:ext cx="2248942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577" y="2060897"/>
            <a:ext cx="224894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80% of base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942406" y="1126034"/>
            <a:ext cx="2249016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701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2942406" y="1769790"/>
            <a:ext cx="2249016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Returning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42406" y="2060897"/>
            <a:ext cx="2249016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18% of 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32955" y="2626668"/>
            <a:ext cx="2249016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83</a:t>
            </a:r>
            <a:endParaRPr lang="en-US" sz="3700" dirty="0"/>
          </a:p>
        </p:txBody>
      </p:sp>
      <p:sp>
        <p:nvSpPr>
          <p:cNvPr id="11" name="Text 8"/>
          <p:cNvSpPr/>
          <p:nvPr/>
        </p:nvSpPr>
        <p:spPr>
          <a:xfrm>
            <a:off x="1732955" y="3270424"/>
            <a:ext cx="2249016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32955" y="3561531"/>
            <a:ext cx="2249016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2% of base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3577" y="3937099"/>
            <a:ext cx="4667845" cy="774874"/>
          </a:xfrm>
          <a:prstGeom prst="roundRect">
            <a:avLst>
              <a:gd name="adj" fmla="val 2760"/>
            </a:avLst>
          </a:prstGeom>
          <a:solidFill>
            <a:srgbClr val="E2ECD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55" y="4138166"/>
            <a:ext cx="178222" cy="14257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6954" y="4108624"/>
            <a:ext cx="4061892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958 repeat buyers (&gt;5 purchases), most are </a:t>
            </a:r>
            <a:r>
              <a:rPr lang="en-US" sz="11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non-subscribers</a:t>
            </a: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(2,518 vs 958) — a conversion opportunity.</a:t>
            </a:r>
            <a:endParaRPr lang="en-US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C806EB-15D3-5EF9-53FC-2003E029491D}"/>
              </a:ext>
            </a:extLst>
          </p:cNvPr>
          <p:cNvSpPr/>
          <p:nvPr/>
        </p:nvSpPr>
        <p:spPr>
          <a:xfrm>
            <a:off x="248829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4904"/>
            <a:ext cx="80968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Age Group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024905"/>
            <a:ext cx="3903018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168" y="1012999"/>
            <a:ext cx="390301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Takeaway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22168" y="1283271"/>
            <a:ext cx="3903018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customers generate the </a:t>
            </a:r>
            <a:r>
              <a:rPr lang="en-US" sz="9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highest revenue</a:t>
            </a: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($62,143). Revenue is relatively evenly distributed across all age groups.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4047976"/>
            <a:ext cx="1952997" cy="6706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226" y="4181475"/>
            <a:ext cx="162884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14226" y="4413796"/>
            <a:ext cx="162884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$62,143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1527" y="4047976"/>
            <a:ext cx="1952997" cy="6706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2176" y="4181475"/>
            <a:ext cx="162884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Middle-Aged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762176" y="4413796"/>
            <a:ext cx="162884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$59,197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476" y="4047976"/>
            <a:ext cx="1952997" cy="6706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10125" y="4181475"/>
            <a:ext cx="162884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Adult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810125" y="4413796"/>
            <a:ext cx="162884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$55,978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426" y="4047976"/>
            <a:ext cx="1952997" cy="6706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74" y="4181475"/>
            <a:ext cx="1628849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Senior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6858074" y="4413796"/>
            <a:ext cx="162884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$55,763</a:t>
            </a:r>
            <a:endParaRPr lang="en-US" sz="9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F58FB9-3BB7-C30D-A9CD-6125A6AC4099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873323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537692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673150" y="1687264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3150" y="199697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transactions tracked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86" y="1537692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3081858" y="1687264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$59.76 Avg Purchase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1858" y="199697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Overall mean spend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2535510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11" name="Text 8"/>
          <p:cNvSpPr/>
          <p:nvPr/>
        </p:nvSpPr>
        <p:spPr>
          <a:xfrm>
            <a:off x="673150" y="2685083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3.75 Avg Rating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3150" y="2994794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satisfaction score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3577" y="3552006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filters: Subscription Status, Gender, Category, Shipping Type. Visuals include revenue by category, sales by age group, and subscription breakdown (71% No, 29% Yes).</a:t>
            </a:r>
            <a:endParaRPr lang="en-US" sz="11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2A2775-2CDD-5BE8-F85E-3ACD89F1EE93}"/>
              </a:ext>
            </a:extLst>
          </p:cNvPr>
          <p:cNvSpPr/>
          <p:nvPr/>
        </p:nvSpPr>
        <p:spPr>
          <a:xfrm>
            <a:off x="166713" y="4797083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1257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951806"/>
            <a:ext cx="299219" cy="299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9799" y="2003227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09799" y="231293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subscriber benefits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860" y="1951806"/>
            <a:ext cx="299219" cy="299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71081" y="2003227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71081" y="231293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toward "Loyal" segment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6143" y="1951806"/>
            <a:ext cx="299219" cy="299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32364" y="2003227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32364" y="231293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lift with margin control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090937"/>
            <a:ext cx="299219" cy="2992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9799" y="3142357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09799" y="345206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&amp; express-shipping users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4860" y="3090937"/>
            <a:ext cx="299219" cy="2992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71081" y="3142357"/>
            <a:ext cx="20880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71081" y="3452068"/>
            <a:ext cx="20880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&amp; best-selling products</a:t>
            </a:r>
            <a:endParaRPr lang="en-US" sz="11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3A2B39-6B98-C2B6-1EAB-C20C14152967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9AA017-E84D-BC15-3661-45C6628DAC1C}"/>
              </a:ext>
            </a:extLst>
          </p:cNvPr>
          <p:cNvSpPr/>
          <p:nvPr/>
        </p:nvSpPr>
        <p:spPr>
          <a:xfrm>
            <a:off x="8067822" y="4860388"/>
            <a:ext cx="1012873" cy="225083"/>
          </a:xfrm>
          <a:prstGeom prst="roundRect">
            <a:avLst/>
          </a:prstGeom>
          <a:solidFill>
            <a:srgbClr val="F6ED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283D3-1983-1518-49D1-581712420881}"/>
              </a:ext>
            </a:extLst>
          </p:cNvPr>
          <p:cNvSpPr txBox="1"/>
          <p:nvPr/>
        </p:nvSpPr>
        <p:spPr>
          <a:xfrm>
            <a:off x="1863969" y="1941342"/>
            <a:ext cx="5788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lgerian" panose="04020705040A02060702" pitchFamily="82" charset="0"/>
              </a:rPr>
              <a:t>Thank You</a:t>
            </a:r>
            <a:endParaRPr lang="en-IN" sz="7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15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379</Words>
  <Application>Microsoft Office PowerPoint</Application>
  <PresentationFormat>On-screen Show (16:9)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Consolas</vt:lpstr>
      <vt:lpstr>Source Sans 3</vt:lpstr>
      <vt:lpstr>Lora</vt:lpstr>
      <vt:lpstr>Arial</vt:lpstr>
      <vt:lpstr>Algerian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manas kamdi</cp:lastModifiedBy>
  <cp:revision>2</cp:revision>
  <dcterms:created xsi:type="dcterms:W3CDTF">2026-07-24T18:32:38Z</dcterms:created>
  <dcterms:modified xsi:type="dcterms:W3CDTF">2026-07-24T18:46:08Z</dcterms:modified>
</cp:coreProperties>
</file>